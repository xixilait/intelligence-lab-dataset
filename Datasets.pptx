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Open Sans" panose="020B0606030504020204" pitchFamily="34" charset="0"/>
      <p:regular r:id="rId20"/>
      <p:bold r:id="rId21"/>
      <p:italic r:id="rId22"/>
      <p:boldItalic r:id="rId23"/>
    </p:embeddedFont>
    <p:embeddedFont>
      <p:font typeface="Space Grotesk" pitchFamily="2" charset="77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5"/>
  </p:normalViewPr>
  <p:slideViewPr>
    <p:cSldViewPr snapToGrid="0">
      <p:cViewPr varScale="1">
        <p:scale>
          <a:sx n="120" d="100"/>
          <a:sy n="120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aea6746e6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caea6746e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aea6746e6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caea6746e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bg>
      <p:bgPr>
        <a:solidFill>
          <a:srgbClr val="007179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6000"/>
              <a:buFont typeface="Space Grotesk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21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23" name="Google Shape;23;p3" descr="Une image contenant cercle, conception&#10;&#10;Le contenu généré par l’IA peut êtr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6189" y="6264637"/>
            <a:ext cx="505823" cy="50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rmation theorique">
  <p:cSld name="Formation theoriqu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4400"/>
              <a:buFont typeface="Space Grotesk"/>
              <a:buNone/>
              <a:defRPr>
                <a:solidFill>
                  <a:srgbClr val="0071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21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rmation pratique">
  <p:cSld name="Formation pratiqu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9100"/>
              </a:buClr>
              <a:buSzPts val="4400"/>
              <a:buFont typeface="Space Grotesk"/>
              <a:buNone/>
              <a:defRPr>
                <a:solidFill>
                  <a:srgbClr val="F391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21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F39100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t">
  <p:cSld name="Proje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B8C5"/>
              </a:buClr>
              <a:buSzPts val="4400"/>
              <a:buFont typeface="Space Grotesk"/>
              <a:buNone/>
              <a:defRPr>
                <a:solidFill>
                  <a:srgbClr val="02B8C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21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2B8C5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6000"/>
              <a:buFont typeface="Space Grotesk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48" name="Google Shape;48;p7" descr="Une image contenant cercle, conception&#10;&#10;Le contenu généré par l’IA peut êtr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6189" y="6264637"/>
            <a:ext cx="505823" cy="50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6" name="Google Shape;56;p8" descr="Une image contenant cercle, conception&#10;&#10;Le contenu généré par l’IA peut êtr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6189" y="6264637"/>
            <a:ext cx="505823" cy="50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66" name="Google Shape;66;p9" descr="Une image contenant cercle, conception&#10;&#10;Le contenu généré par l’IA peut êtr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6189" y="6264637"/>
            <a:ext cx="505823" cy="50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44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72" name="Google Shape;72;p10" descr="Une image contenant cercle, conception&#10;&#10;Le contenu généré par l’IA peut êtr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6189" y="6264637"/>
            <a:ext cx="505823" cy="50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77" name="Google Shape;77;p11" descr="Une image contenant cercle, conception&#10;&#10;Le contenu généré par l’IA peut êtr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6189" y="6264637"/>
            <a:ext cx="505823" cy="50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3200"/>
              <a:buFont typeface="Space Grotes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85" name="Google Shape;85;p12" descr="Une image contenant cercle, conception&#10;&#10;Le contenu généré par l’IA peut êtr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6189" y="6264637"/>
            <a:ext cx="505823" cy="50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3200"/>
              <a:buFont typeface="Space Grotes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93" name="Google Shape;93;p13" descr="Une image contenant cercle, conception&#10;&#10;Le contenu généré par l’IA peut êtr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6189" y="6264637"/>
            <a:ext cx="505823" cy="50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00" name="Google Shape;100;p14" descr="Une image contenant cercle, conception&#10;&#10;Le contenu généré par l’IA peut êtr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6189" y="6264637"/>
            <a:ext cx="505823" cy="50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07" name="Google Shape;107;p15" descr="Une image contenant cercle, conception&#10;&#10;Le contenu généré par l’IA peut êtr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6189" y="6264637"/>
            <a:ext cx="505823" cy="50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4400"/>
              <a:buFont typeface="Space Grotesk"/>
              <a:buNone/>
              <a:defRPr sz="4400" b="0" i="0" u="none" strike="noStrike" cap="none">
                <a:solidFill>
                  <a:srgbClr val="00717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C3C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C3C3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C3C3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C3C3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C3C3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79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ctrTitle"/>
          </p:nvPr>
        </p:nvSpPr>
        <p:spPr>
          <a:xfrm>
            <a:off x="1524000" y="140582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pace Grotesk"/>
              <a:buNone/>
            </a:pPr>
            <a:r>
              <a:rPr lang="fr-FR">
                <a:solidFill>
                  <a:schemeClr val="lt1"/>
                </a:solidFill>
              </a:rPr>
              <a:t>Formation</a:t>
            </a:r>
            <a:br>
              <a:rPr lang="fr-FR">
                <a:solidFill>
                  <a:schemeClr val="lt1"/>
                </a:solidFill>
              </a:rPr>
            </a:br>
            <a:r>
              <a:rPr lang="fr-FR">
                <a:solidFill>
                  <a:schemeClr val="lt1"/>
                </a:solidFill>
              </a:rPr>
              <a:t>Dataset</a:t>
            </a:r>
            <a:endParaRPr/>
          </a:p>
        </p:txBody>
      </p:sp>
      <p:pic>
        <p:nvPicPr>
          <p:cNvPr id="113" name="Google Shape;113;p16" descr="Une image contenant texte, Police, Graphique, logo&#10;&#10;Le contenu généré par l’IA peut êtr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1967" y="5735637"/>
            <a:ext cx="2257424" cy="829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Une image contenant texte, capture d’écran, Graphique, Police&#10;&#10;Le contenu généré par l’IA peut êtr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726302"/>
            <a:ext cx="2135970" cy="2131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21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2800"/>
              <a:buChar char="•"/>
            </a:pPr>
            <a:r>
              <a:rPr lang="fr-FR"/>
              <a:t>Formation théorique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2800"/>
              <a:buChar char="•"/>
            </a:pPr>
            <a:r>
              <a:rPr lang="fr-FR"/>
              <a:t>Formation pratique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2800"/>
              <a:buChar char="•"/>
            </a:pPr>
            <a:r>
              <a:rPr lang="fr-FR"/>
              <a:t>Projet</a:t>
            </a:r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4400"/>
              <a:buFont typeface="Space Grotesk"/>
              <a:buNone/>
            </a:pPr>
            <a:r>
              <a:rPr lang="fr-FR"/>
              <a:t>Sommaire</a:t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rgbClr val="00B8C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Projet</a:t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4064000" y="0"/>
            <a:ext cx="4064000" cy="6858000"/>
          </a:xfrm>
          <a:prstGeom prst="rect">
            <a:avLst/>
          </a:prstGeom>
          <a:solidFill>
            <a:srgbClr val="F391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Formation pratique</a:t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Formation théorique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4400"/>
              <a:buFont typeface="Space Grotesk"/>
              <a:buNone/>
            </a:pPr>
            <a:r>
              <a:rPr lang="fr-FR"/>
              <a:t>Prérequis</a:t>
            </a:r>
            <a:endParaRPr/>
          </a:p>
        </p:txBody>
      </p:sp>
      <p:pic>
        <p:nvPicPr>
          <p:cNvPr id="130" name="Google Shape;130;p18" descr="Google Colab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7075" y="2362200"/>
            <a:ext cx="21336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INTELLIGENCE LAB FORMATION - DATASET</a:t>
            </a:r>
            <a:endParaRPr/>
          </a:p>
        </p:txBody>
      </p:sp>
      <p:pic>
        <p:nvPicPr>
          <p:cNvPr id="132" name="Google Shape;132;p18" descr="Une image contenant Graphique, capture d’écran, conception, art&#10;&#10;Le contenu généré par l’IA peut êtr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822" y="6232973"/>
            <a:ext cx="569015" cy="56901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>
            <a:spLocks noGrp="1"/>
          </p:cNvSpPr>
          <p:nvPr>
            <p:ph type="sldNum" idx="12"/>
          </p:nvPr>
        </p:nvSpPr>
        <p:spPr>
          <a:xfrm>
            <a:off x="8162146" y="633491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  <p:pic>
        <p:nvPicPr>
          <p:cNvPr id="134" name="Google Shape;134;p18" descr="Python language logo"/>
          <p:cNvPicPr preferRelativeResize="0"/>
          <p:nvPr/>
        </p:nvPicPr>
        <p:blipFill rotWithShape="1">
          <a:blip r:embed="rId5">
            <a:alphaModFix/>
          </a:blip>
          <a:srcRect l="21067" t="23620" r="20138" b="19668"/>
          <a:stretch/>
        </p:blipFill>
        <p:spPr>
          <a:xfrm>
            <a:off x="4613188" y="1998737"/>
            <a:ext cx="2965624" cy="2860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 descr="Microsoft Excel Logo-20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0501" y="2834725"/>
            <a:ext cx="1349888" cy="132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pace Grotesk"/>
              <a:buNone/>
            </a:pPr>
            <a:r>
              <a:rPr lang="fr-FR">
                <a:solidFill>
                  <a:schemeClr val="lt1"/>
                </a:solidFill>
              </a:rPr>
              <a:t>Formation théorique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4400"/>
              <a:buFont typeface="Space Grotesk"/>
              <a:buNone/>
            </a:pPr>
            <a:r>
              <a:rPr lang="fr-FR"/>
              <a:t>Sommaire</a:t>
            </a:r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body" idx="1"/>
          </p:nvPr>
        </p:nvSpPr>
        <p:spPr>
          <a:xfrm>
            <a:off x="979325" y="1771599"/>
            <a:ext cx="10515600" cy="44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921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800"/>
              <a:buChar char="•"/>
            </a:pPr>
            <a:r>
              <a:rPr lang="fr-FR"/>
              <a:t>C’est quoi un dataset ?</a:t>
            </a:r>
            <a:endParaRPr/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fr-FR"/>
              <a:t>A quoi ca sert ?</a:t>
            </a:r>
            <a:endParaRPr/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fr-FR"/>
              <a:t>Etape 1 : La Qualité</a:t>
            </a:r>
            <a:endParaRPr/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fr-FR"/>
              <a:t>Etape 2 : La Visualisation </a:t>
            </a:r>
            <a:endParaRPr/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fr-FR"/>
              <a:t>Etape 3 : L'entraînement</a:t>
            </a:r>
            <a:endParaRPr/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fr-FR"/>
              <a:t>Comment construire son dataset ?</a:t>
            </a:r>
            <a:endParaRPr/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fr-FR"/>
              <a:t>Sécurité et Souveraineté </a:t>
            </a:r>
            <a:endParaRPr sz="4400">
              <a:solidFill>
                <a:srgbClr val="007179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2800"/>
              <a:buNone/>
            </a:pPr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INTELLIGENCE LAB FORMATION - DATASET</a:t>
            </a:r>
            <a:endParaRPr/>
          </a:p>
        </p:txBody>
      </p:sp>
      <p:pic>
        <p:nvPicPr>
          <p:cNvPr id="148" name="Google Shape;148;p20" descr="Une image contenant Graphique, capture d’écran, conception, art&#10;&#10;Le contenu généré par l’IA peut êtr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822" y="6232973"/>
            <a:ext cx="569015" cy="56901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>
            <a:spLocks noGrp="1"/>
          </p:cNvSpPr>
          <p:nvPr>
            <p:ph type="sldNum" idx="12"/>
          </p:nvPr>
        </p:nvSpPr>
        <p:spPr>
          <a:xfrm>
            <a:off x="8162146" y="633491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4400"/>
              <a:buFont typeface="Space Grotesk"/>
              <a:buNone/>
            </a:pPr>
            <a:r>
              <a:rPr lang="fr-FR"/>
              <a:t>C’est quoi un Dataset</a:t>
            </a:r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body" idx="1"/>
          </p:nvPr>
        </p:nvSpPr>
        <p:spPr>
          <a:xfrm>
            <a:off x="100800" y="1512775"/>
            <a:ext cx="12091200" cy="45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/>
              <a:t>Une collection organisée d’informations portant sur un sujet précis (ex: un tableau excel).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C3C3C"/>
              </a:buClr>
              <a:buSzPts val="2800"/>
              <a:buNone/>
            </a:pPr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00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INTELLIGENCE LAB FORMATION - DATASET </a:t>
            </a:r>
            <a:endParaRPr/>
          </a:p>
        </p:txBody>
      </p:sp>
      <p:pic>
        <p:nvPicPr>
          <p:cNvPr id="157" name="Google Shape;157;p21" descr="Une image contenant Graphique, capture d’écran, conception, art&#10;&#10;Le contenu généré par l’IA peut êtr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822" y="6232973"/>
            <a:ext cx="569015" cy="56901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>
            <a:spLocks noGrp="1"/>
          </p:cNvSpPr>
          <p:nvPr>
            <p:ph type="sldNum" idx="12"/>
          </p:nvPr>
        </p:nvSpPr>
        <p:spPr>
          <a:xfrm>
            <a:off x="8162146" y="633491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  <p:pic>
        <p:nvPicPr>
          <p:cNvPr id="159" name="Google Shape;159;p21"/>
          <p:cNvPicPr preferRelativeResize="0"/>
          <p:nvPr/>
        </p:nvPicPr>
        <p:blipFill rotWithShape="1">
          <a:blip r:embed="rId4">
            <a:alphaModFix/>
          </a:blip>
          <a:srcRect t="21169" r="33643" b="19733"/>
          <a:stretch/>
        </p:blipFill>
        <p:spPr>
          <a:xfrm>
            <a:off x="2031738" y="2560950"/>
            <a:ext cx="8128524" cy="347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4400"/>
              <a:buFont typeface="Space Grotesk"/>
              <a:buNone/>
            </a:pPr>
            <a:r>
              <a:rPr lang="fr-FR"/>
              <a:t>A quoi ca sert ?</a:t>
            </a:r>
            <a:endParaRPr/>
          </a:p>
        </p:txBody>
      </p:sp>
      <p:sp>
        <p:nvSpPr>
          <p:cNvPr id="165" name="Google Shape;165;p22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INTELLIGENCE LAB FORMATION - DATASET </a:t>
            </a:r>
            <a:endParaRPr/>
          </a:p>
        </p:txBody>
      </p:sp>
      <p:pic>
        <p:nvPicPr>
          <p:cNvPr id="166" name="Google Shape;166;p22" descr="Une image contenant Graphique, capture d’écran, conception, art&#10;&#10;Le contenu généré par l’IA peut êtr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822" y="6232973"/>
            <a:ext cx="569015" cy="56901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 txBox="1">
            <a:spLocks noGrp="1"/>
          </p:cNvSpPr>
          <p:nvPr>
            <p:ph type="sldNum" idx="12"/>
          </p:nvPr>
        </p:nvSpPr>
        <p:spPr>
          <a:xfrm>
            <a:off x="8162146" y="633491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7</a:t>
            </a:fld>
            <a:endParaRPr/>
          </a:p>
        </p:txBody>
      </p:sp>
      <p:pic>
        <p:nvPicPr>
          <p:cNvPr id="168" name="Google Shape;168;p22"/>
          <p:cNvPicPr preferRelativeResize="0"/>
          <p:nvPr/>
        </p:nvPicPr>
        <p:blipFill rotWithShape="1">
          <a:blip r:embed="rId4">
            <a:alphaModFix/>
          </a:blip>
          <a:srcRect b="49112"/>
          <a:stretch/>
        </p:blipFill>
        <p:spPr>
          <a:xfrm>
            <a:off x="653637" y="2164600"/>
            <a:ext cx="5625725" cy="2307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>
            <a:spLocks noGrp="1"/>
          </p:cNvSpPr>
          <p:nvPr>
            <p:ph type="body" idx="1"/>
          </p:nvPr>
        </p:nvSpPr>
        <p:spPr>
          <a:xfrm>
            <a:off x="7952688" y="5503388"/>
            <a:ext cx="34011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400"/>
              <a:t>Exemple → La Météo</a:t>
            </a:r>
            <a:endParaRPr sz="8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2"/>
          <p:cNvSpPr txBox="1"/>
          <p:nvPr/>
        </p:nvSpPr>
        <p:spPr>
          <a:xfrm>
            <a:off x="175050" y="1446600"/>
            <a:ext cx="11841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rgbClr val="3C3C3C"/>
                </a:solidFill>
                <a:latin typeface="Open Sans"/>
                <a:ea typeface="Open Sans"/>
                <a:cs typeface="Open Sans"/>
                <a:sym typeface="Open Sans"/>
              </a:rPr>
              <a:t>Les Datasets permettent de comprendre le passé pour prédire le futur</a:t>
            </a:r>
            <a:endParaRPr/>
          </a:p>
        </p:txBody>
      </p:sp>
      <p:pic>
        <p:nvPicPr>
          <p:cNvPr id="171" name="Google Shape;171;p22"/>
          <p:cNvPicPr preferRelativeResize="0"/>
          <p:nvPr/>
        </p:nvPicPr>
        <p:blipFill rotWithShape="1">
          <a:blip r:embed="rId4">
            <a:alphaModFix/>
          </a:blip>
          <a:srcRect t="50836"/>
          <a:stretch/>
        </p:blipFill>
        <p:spPr>
          <a:xfrm>
            <a:off x="6093830" y="3165550"/>
            <a:ext cx="5822769" cy="2307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4400"/>
              <a:buFont typeface="Space Grotesk"/>
              <a:buNone/>
            </a:pPr>
            <a:r>
              <a:rPr lang="fr-FR"/>
              <a:t>Etape 1 : La Qualité</a:t>
            </a:r>
            <a:endParaRPr sz="2800">
              <a:solidFill>
                <a:srgbClr val="3C3C3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4400"/>
              <a:buFont typeface="Space Grotesk"/>
              <a:buNone/>
            </a:pPr>
            <a:endParaRPr/>
          </a:p>
        </p:txBody>
      </p:sp>
      <p:sp>
        <p:nvSpPr>
          <p:cNvPr id="178" name="Google Shape;178;p23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INTELLIGENCE LAB FORMATION - DATASET </a:t>
            </a:r>
            <a:endParaRPr/>
          </a:p>
        </p:txBody>
      </p:sp>
      <p:pic>
        <p:nvPicPr>
          <p:cNvPr id="179" name="Google Shape;179;p23" descr="Une image contenant Graphique, capture d’écran, conception, art&#10;&#10;Le contenu généré par l’IA peut êtr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822" y="6232973"/>
            <a:ext cx="569015" cy="56901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3"/>
          <p:cNvSpPr txBox="1">
            <a:spLocks noGrp="1"/>
          </p:cNvSpPr>
          <p:nvPr>
            <p:ph type="sldNum" idx="12"/>
          </p:nvPr>
        </p:nvSpPr>
        <p:spPr>
          <a:xfrm>
            <a:off x="8162146" y="633491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8</a:t>
            </a:fld>
            <a:endParaRPr/>
          </a:p>
        </p:txBody>
      </p:sp>
      <p:pic>
        <p:nvPicPr>
          <p:cNvPr id="181" name="Google Shape;181;p23"/>
          <p:cNvPicPr preferRelativeResize="0"/>
          <p:nvPr/>
        </p:nvPicPr>
        <p:blipFill rotWithShape="1">
          <a:blip r:embed="rId4">
            <a:alphaModFix/>
          </a:blip>
          <a:srcRect t="18344" b="16116"/>
          <a:stretch/>
        </p:blipFill>
        <p:spPr>
          <a:xfrm>
            <a:off x="925088" y="1136300"/>
            <a:ext cx="10341824" cy="474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3"/>
          <p:cNvSpPr txBox="1">
            <a:spLocks noGrp="1"/>
          </p:cNvSpPr>
          <p:nvPr>
            <p:ph type="body" idx="1"/>
          </p:nvPr>
        </p:nvSpPr>
        <p:spPr>
          <a:xfrm>
            <a:off x="9024525" y="5653925"/>
            <a:ext cx="53805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200" i="1"/>
              <a:t>(Voir formation Data Quality)</a:t>
            </a:r>
            <a:endParaRPr sz="72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3"/>
          <p:cNvSpPr txBox="1"/>
          <p:nvPr/>
        </p:nvSpPr>
        <p:spPr>
          <a:xfrm>
            <a:off x="11865900" y="6183175"/>
            <a:ext cx="914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3C3C3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fr-FR"/>
              <a:t>Etape 2 : La Visualisation</a:t>
            </a:r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INTELLIGENCE LAB FORMATION - DATASET </a:t>
            </a:r>
            <a:endParaRPr/>
          </a:p>
        </p:txBody>
      </p:sp>
      <p:pic>
        <p:nvPicPr>
          <p:cNvPr id="191" name="Google Shape;191;p24" descr="Une image contenant Graphique, capture d’écran, conception, art&#10;&#10;Le contenu généré par l’IA peut êtr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822" y="6232973"/>
            <a:ext cx="569015" cy="56901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4"/>
          <p:cNvSpPr txBox="1">
            <a:spLocks noGrp="1"/>
          </p:cNvSpPr>
          <p:nvPr>
            <p:ph type="sldNum" idx="12"/>
          </p:nvPr>
        </p:nvSpPr>
        <p:spPr>
          <a:xfrm>
            <a:off x="8162146" y="633491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9</a:t>
            </a:fld>
            <a:endParaRPr/>
          </a:p>
        </p:txBody>
      </p:sp>
      <p:pic>
        <p:nvPicPr>
          <p:cNvPr id="193" name="Google Shape;193;p24"/>
          <p:cNvPicPr preferRelativeResize="0"/>
          <p:nvPr/>
        </p:nvPicPr>
        <p:blipFill rotWithShape="1">
          <a:blip r:embed="rId4">
            <a:alphaModFix/>
          </a:blip>
          <a:srcRect t="4414" r="7020" b="47661"/>
          <a:stretch/>
        </p:blipFill>
        <p:spPr>
          <a:xfrm>
            <a:off x="868900" y="1839350"/>
            <a:ext cx="10454200" cy="3772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fr-FR"/>
              <a:t>Etape 3 : L'entraînement</a:t>
            </a:r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INTELLIGENCE LAB FORMATION - DATASET </a:t>
            </a:r>
            <a:endParaRPr/>
          </a:p>
        </p:txBody>
      </p:sp>
      <p:pic>
        <p:nvPicPr>
          <p:cNvPr id="200" name="Google Shape;200;p25" descr="Une image contenant Graphique, capture d’écran, conception, art&#10;&#10;Le contenu généré par l’IA peut êtr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822" y="6232973"/>
            <a:ext cx="569015" cy="56901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5"/>
          <p:cNvSpPr txBox="1">
            <a:spLocks noGrp="1"/>
          </p:cNvSpPr>
          <p:nvPr>
            <p:ph type="sldNum" idx="12"/>
          </p:nvPr>
        </p:nvSpPr>
        <p:spPr>
          <a:xfrm>
            <a:off x="8162146" y="633491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10</a:t>
            </a:fld>
            <a:endParaRPr/>
          </a:p>
        </p:txBody>
      </p:sp>
      <p:pic>
        <p:nvPicPr>
          <p:cNvPr id="202" name="Google Shape;202;p25"/>
          <p:cNvPicPr preferRelativeResize="0"/>
          <p:nvPr/>
        </p:nvPicPr>
        <p:blipFill rotWithShape="1">
          <a:blip r:embed="rId4">
            <a:alphaModFix/>
          </a:blip>
          <a:srcRect t="30683" b="18221"/>
          <a:stretch/>
        </p:blipFill>
        <p:spPr>
          <a:xfrm>
            <a:off x="402838" y="2840488"/>
            <a:ext cx="11386324" cy="28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5"/>
          <p:cNvSpPr txBox="1">
            <a:spLocks noGrp="1"/>
          </p:cNvSpPr>
          <p:nvPr>
            <p:ph type="body" idx="1"/>
          </p:nvPr>
        </p:nvSpPr>
        <p:spPr>
          <a:xfrm>
            <a:off x="478725" y="1667700"/>
            <a:ext cx="105156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Organiser son dataset pour entraîner un modèle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4400"/>
              <a:buFont typeface="Space Grotesk"/>
              <a:buNone/>
            </a:pPr>
            <a:r>
              <a:rPr lang="fr-FR"/>
              <a:t>Comment construire son Dataset ?</a:t>
            </a:r>
            <a:endParaRPr/>
          </a:p>
        </p:txBody>
      </p:sp>
      <p:sp>
        <p:nvSpPr>
          <p:cNvPr id="209" name="Google Shape;209;p26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00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INTELLIGENCE LAB FORMATION - DATASET </a:t>
            </a:r>
            <a:endParaRPr/>
          </a:p>
        </p:txBody>
      </p:sp>
      <p:pic>
        <p:nvPicPr>
          <p:cNvPr id="210" name="Google Shape;210;p26" descr="Une image contenant Graphique, capture d’écran, conception, art&#10;&#10;Le contenu généré par l’IA peut êtr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822" y="6232973"/>
            <a:ext cx="569015" cy="56901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sldNum" idx="12"/>
          </p:nvPr>
        </p:nvSpPr>
        <p:spPr>
          <a:xfrm>
            <a:off x="8162146" y="633491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11</a:t>
            </a:fld>
            <a:endParaRPr/>
          </a:p>
        </p:txBody>
      </p:sp>
      <p:pic>
        <p:nvPicPr>
          <p:cNvPr id="212" name="Google Shape;212;p26"/>
          <p:cNvPicPr preferRelativeResize="0"/>
          <p:nvPr/>
        </p:nvPicPr>
        <p:blipFill rotWithShape="1">
          <a:blip r:embed="rId4">
            <a:alphaModFix/>
          </a:blip>
          <a:srcRect l="3525" t="21534" r="3720" b="21512"/>
          <a:stretch/>
        </p:blipFill>
        <p:spPr>
          <a:xfrm>
            <a:off x="162825" y="1947150"/>
            <a:ext cx="11866352" cy="341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4400"/>
              <a:buFont typeface="Space Grotesk"/>
              <a:buNone/>
            </a:pPr>
            <a:r>
              <a:rPr lang="fr-FR"/>
              <a:t>Sécurité et Souveraineté</a:t>
            </a:r>
            <a:endParaRPr sz="2800">
              <a:solidFill>
                <a:srgbClr val="3C3C3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179"/>
              </a:buClr>
              <a:buSzPts val="4400"/>
              <a:buFont typeface="Space Grotesk"/>
              <a:buNone/>
            </a:pPr>
            <a:endParaRPr/>
          </a:p>
        </p:txBody>
      </p:sp>
      <p:sp>
        <p:nvSpPr>
          <p:cNvPr id="218" name="Google Shape;218;p27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7179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INTELLIGENCE LAB FORMATION - DATASET </a:t>
            </a:r>
            <a:endParaRPr/>
          </a:p>
        </p:txBody>
      </p:sp>
      <p:pic>
        <p:nvPicPr>
          <p:cNvPr id="219" name="Google Shape;219;p27" descr="Une image contenant Graphique, capture d’écran, conception, art&#10;&#10;Le contenu généré par l’IA peut êtr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822" y="6232973"/>
            <a:ext cx="569015" cy="56901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7"/>
          <p:cNvSpPr txBox="1">
            <a:spLocks noGrp="1"/>
          </p:cNvSpPr>
          <p:nvPr>
            <p:ph type="sldNum" idx="12"/>
          </p:nvPr>
        </p:nvSpPr>
        <p:spPr>
          <a:xfrm>
            <a:off x="8162146" y="633491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12</a:t>
            </a:fld>
            <a:endParaRPr/>
          </a:p>
        </p:txBody>
      </p:sp>
      <p:pic>
        <p:nvPicPr>
          <p:cNvPr id="221" name="Google Shape;221;p27"/>
          <p:cNvPicPr preferRelativeResize="0"/>
          <p:nvPr/>
        </p:nvPicPr>
        <p:blipFill rotWithShape="1">
          <a:blip r:embed="rId4">
            <a:alphaModFix/>
          </a:blip>
          <a:srcRect t="15461" b="15578"/>
          <a:stretch/>
        </p:blipFill>
        <p:spPr>
          <a:xfrm>
            <a:off x="259213" y="1318050"/>
            <a:ext cx="11673576" cy="4553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9100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pace Grotesk"/>
              <a:buNone/>
            </a:pPr>
            <a:r>
              <a:rPr lang="fr-FR">
                <a:solidFill>
                  <a:schemeClr val="lt1"/>
                </a:solidFill>
              </a:rPr>
              <a:t>Formation pratique</a:t>
            </a:r>
            <a:endParaRPr/>
          </a:p>
        </p:txBody>
      </p:sp>
      <p:sp>
        <p:nvSpPr>
          <p:cNvPr id="227" name="Google Shape;227;p2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9100"/>
              </a:buClr>
              <a:buSzPts val="4400"/>
              <a:buFont typeface="Space Grotesk"/>
              <a:buNone/>
            </a:pPr>
            <a:r>
              <a:rPr lang="fr-FR"/>
              <a:t>Démonstration</a:t>
            </a:r>
            <a:endParaRPr/>
          </a:p>
        </p:txBody>
      </p:sp>
      <p:sp>
        <p:nvSpPr>
          <p:cNvPr id="233" name="Google Shape;233;p29"/>
          <p:cNvSpPr txBox="1">
            <a:spLocks noGrp="1"/>
          </p:cNvSpPr>
          <p:nvPr>
            <p:ph type="body" idx="1"/>
          </p:nvPr>
        </p:nvSpPr>
        <p:spPr>
          <a:xfrm>
            <a:off x="838200" y="1626551"/>
            <a:ext cx="10515600" cy="44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Démo : à partir d'un dataset médical réel, pouvons-nous prédire si une tumeur est cancéreuse ?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fr-FR"/>
              <a:t>Explorer et comprendre les données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fr-FR"/>
              <a:t>Nettoyer et préparer le dataset pour le rendre exploitable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fr-FR"/>
              <a:t>Visualiser ce qui distingue une tumeur cancéreuse d'une personne saine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fr-FR"/>
              <a:t>Entraîner un modèle capable de prédire le diagnostic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9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F39100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FABLAB - FORMATION IMPRESSION 3D</a:t>
            </a:r>
            <a:endParaRPr/>
          </a:p>
        </p:txBody>
      </p:sp>
      <p:sp>
        <p:nvSpPr>
          <p:cNvPr id="235" name="Google Shape;235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14</a:t>
            </a:fld>
            <a:endParaRPr/>
          </a:p>
        </p:txBody>
      </p:sp>
      <p:sp>
        <p:nvSpPr>
          <p:cNvPr id="236" name="Google Shape;236;p29"/>
          <p:cNvSpPr txBox="1"/>
          <p:nvPr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F39100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INTELLIGENCE LAB FORMATION - </a:t>
            </a:r>
            <a:r>
              <a:rPr lang="fr-FR" sz="12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DATASET</a:t>
            </a:r>
            <a:r>
              <a:rPr lang="fr-FR"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2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7" name="Google Shape;237;p29" descr="Une image contenant Graphique, capture d’écran, conception, art&#10;&#10;Le contenu généré par l’IA peut êtr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822" y="6232973"/>
            <a:ext cx="569015" cy="56901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9"/>
          <p:cNvSpPr txBox="1"/>
          <p:nvPr/>
        </p:nvSpPr>
        <p:spPr>
          <a:xfrm>
            <a:off x="8162146" y="633491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fld>
            <a:endParaRPr sz="12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8C5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>
            <a:spLocks noGrp="1"/>
          </p:cNvSpPr>
          <p:nvPr>
            <p:ph type="ctrTitle"/>
          </p:nvPr>
        </p:nvSpPr>
        <p:spPr>
          <a:xfrm>
            <a:off x="1524000" y="113263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pace Grotesk"/>
              <a:buNone/>
            </a:pPr>
            <a:r>
              <a:rPr lang="fr-FR">
                <a:solidFill>
                  <a:schemeClr val="lt1"/>
                </a:solidFill>
              </a:rPr>
              <a:t>Projet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B8C5"/>
              </a:buClr>
              <a:buSzPts val="4400"/>
              <a:buFont typeface="Space Grotesk"/>
              <a:buNone/>
            </a:pPr>
            <a:r>
              <a:rPr lang="fr-FR"/>
              <a:t>Rendu</a:t>
            </a:r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body" idx="1"/>
          </p:nvPr>
        </p:nvSpPr>
        <p:spPr>
          <a:xfrm>
            <a:off x="325300" y="1825625"/>
            <a:ext cx="11028600" cy="42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2800"/>
              <a:buNone/>
            </a:pP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fr-FR" dirty="0"/>
              <a:t>Projet : prédire si un passager du Titanic a survécu ou non en nettoyant et améliorant notre </a:t>
            </a:r>
            <a:r>
              <a:rPr lang="fr-FR" dirty="0" err="1"/>
              <a:t>dataset</a:t>
            </a:r>
            <a:r>
              <a:rPr lang="fr-FR" dirty="0"/>
              <a:t>. 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fr-FR" dirty="0"/>
              <a:t>Objectif : Remplir toutes les cellules du </a:t>
            </a:r>
            <a:r>
              <a:rPr lang="fr-FR" dirty="0" err="1"/>
              <a:t>NoteBook</a:t>
            </a:r>
            <a:endParaRPr lang="fr-FR" dirty="0"/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fr-FR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fr-FR" dirty="0"/>
              <a:t>Lien du projet : https://</a:t>
            </a:r>
            <a:r>
              <a:rPr lang="fr-FR" dirty="0" err="1"/>
              <a:t>github.com</a:t>
            </a:r>
            <a:r>
              <a:rPr lang="fr-FR" dirty="0"/>
              <a:t>/</a:t>
            </a:r>
            <a:r>
              <a:rPr lang="fr-FR" dirty="0" err="1"/>
              <a:t>XIXIlait</a:t>
            </a:r>
            <a:r>
              <a:rPr lang="fr-FR" dirty="0"/>
              <a:t>/intelligence-</a:t>
            </a:r>
            <a:r>
              <a:rPr lang="fr-FR" dirty="0" err="1"/>
              <a:t>lab</a:t>
            </a:r>
            <a:r>
              <a:rPr lang="fr-FR" dirty="0"/>
              <a:t>-</a:t>
            </a:r>
            <a:r>
              <a:rPr lang="fr-FR" dirty="0" err="1"/>
              <a:t>dataset</a:t>
            </a:r>
            <a:endParaRPr dirty="0"/>
          </a:p>
        </p:txBody>
      </p:sp>
      <p:sp>
        <p:nvSpPr>
          <p:cNvPr id="250" name="Google Shape;250;p31"/>
          <p:cNvSpPr txBox="1">
            <a:spLocks noGrp="1"/>
          </p:cNvSpPr>
          <p:nvPr>
            <p:ph type="ftr" idx="11"/>
          </p:nvPr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2B8C5"/>
          </a:solidFill>
          <a:ln>
            <a:noFill/>
          </a:ln>
        </p:spPr>
        <p:txBody>
          <a:bodyPr spcFirstLastPara="1" wrap="square" lIns="93600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INTELLIGENCE LAB FORMATION - DATASET </a:t>
            </a:r>
            <a:endParaRPr/>
          </a:p>
        </p:txBody>
      </p:sp>
      <p:pic>
        <p:nvPicPr>
          <p:cNvPr id="251" name="Google Shape;251;p31" descr="Une image contenant Graphique, capture d’écran, conception, art&#10;&#10;Le contenu généré par l’IA peut êtr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822" y="6232973"/>
            <a:ext cx="569015" cy="56901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1"/>
          <p:cNvSpPr txBox="1">
            <a:spLocks noGrp="1"/>
          </p:cNvSpPr>
          <p:nvPr>
            <p:ph type="sldNum" idx="12"/>
          </p:nvPr>
        </p:nvSpPr>
        <p:spPr>
          <a:xfrm>
            <a:off x="8162146" y="633491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>
            <a:spLocks noGrp="1"/>
          </p:cNvSpPr>
          <p:nvPr>
            <p:ph type="ctrTitle"/>
          </p:nvPr>
        </p:nvSpPr>
        <p:spPr>
          <a:xfrm>
            <a:off x="1524000" y="140582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pace Grotesk"/>
              <a:buNone/>
            </a:pPr>
            <a:r>
              <a:rPr lang="fr-FR">
                <a:solidFill>
                  <a:schemeClr val="lt1"/>
                </a:solidFill>
              </a:rPr>
              <a:t>Merci pour votre écoute</a:t>
            </a:r>
            <a:endParaRPr/>
          </a:p>
        </p:txBody>
      </p:sp>
      <p:pic>
        <p:nvPicPr>
          <p:cNvPr id="258" name="Google Shape;258;p32" descr="Une image contenant texte, Police, Graphique, logo&#10;&#10;Le contenu généré par l’IA peut êtr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1967" y="5735637"/>
            <a:ext cx="2257424" cy="829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2" descr="Une image contenant texte, capture d’écran, Graphique, Police&#10;&#10;Le contenu généré par l’IA peut êtr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726302"/>
            <a:ext cx="2135970" cy="2131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Microsoft Macintosh PowerPoint</Application>
  <PresentationFormat>Widescreen</PresentationFormat>
  <Paragraphs>85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Open Sans</vt:lpstr>
      <vt:lpstr>Space Grotesk</vt:lpstr>
      <vt:lpstr>Thème Office</vt:lpstr>
      <vt:lpstr>Formation Dataset</vt:lpstr>
      <vt:lpstr>Sommaire</vt:lpstr>
      <vt:lpstr>Prérequis</vt:lpstr>
      <vt:lpstr>Formation théorique</vt:lpstr>
      <vt:lpstr>Sommaire</vt:lpstr>
      <vt:lpstr>C’est quoi un Dataset</vt:lpstr>
      <vt:lpstr>A quoi ca sert ?</vt:lpstr>
      <vt:lpstr>Etape 1 : La Qualité </vt:lpstr>
      <vt:lpstr>Etape 2 : La Visualisation</vt:lpstr>
      <vt:lpstr>Etape 3 : L'entraînement</vt:lpstr>
      <vt:lpstr>Comment construire son Dataset ?</vt:lpstr>
      <vt:lpstr>Sécurité et Souveraineté </vt:lpstr>
      <vt:lpstr>Formation pratique</vt:lpstr>
      <vt:lpstr>Démonstration</vt:lpstr>
      <vt:lpstr>Projet</vt:lpstr>
      <vt:lpstr>Rendu</vt:lpstr>
      <vt:lpstr>Merci pour votre écoute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Alexis LAINAULT</cp:lastModifiedBy>
  <cp:revision>1</cp:revision>
  <dcterms:modified xsi:type="dcterms:W3CDTF">2026-03-10T16:38:46Z</dcterms:modified>
</cp:coreProperties>
</file>